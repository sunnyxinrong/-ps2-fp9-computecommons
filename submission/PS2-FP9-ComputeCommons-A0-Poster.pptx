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44ed5d5c4f44030" /><Relationship Type="http://schemas.openxmlformats.org/officeDocument/2006/relationships/extended-properties" Target="/docProps/app.xml" Id="R4a6004d100b648cf" /><Relationship Type="http://schemas.openxmlformats.org/officeDocument/2006/relationships/officeDocument" Target="/ppt/presentation.xml" Id="R440d2344a9cb49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9ba58780a3043e5"/>
  </p:sldMasterIdLst>
  <p:notesMasterIdLst>
    <p:notesMasterId xmlns:r="http://schemas.openxmlformats.org/officeDocument/2006/relationships" r:id="R289f6a426f444695"/>
  </p:notesMasterIdLst>
  <p:sldIdLst>
    <p:sldId xmlns:r="http://schemas.openxmlformats.org/officeDocument/2006/relationships" id="256" r:id="R1081243c88a44548"/>
  </p:sldIdLst>
  <p:sldSz cx="42804000" cy="3027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cadc77ef7f4e46" /><Relationship Type="http://schemas.openxmlformats.org/officeDocument/2006/relationships/slideMaster" Target="/ppt/slideMasters/slideMaster1.xml" Id="R49ba58780a3043e5" /><Relationship Type="http://schemas.openxmlformats.org/officeDocument/2006/relationships/notesMaster" Target="/ppt/notesMasters/notesMaster1.xml" Id="R289f6a426f444695" /><Relationship Type="http://schemas.openxmlformats.org/officeDocument/2006/relationships/presProps" Target="/ppt/presProps.xml" Id="Rd0ddebc1d238436b" /><Relationship Type="http://schemas.openxmlformats.org/officeDocument/2006/relationships/tableStyles" Target="/ppt/tableStyles.xml" Id="Rce51fbf49d8e4757" /><Relationship Type="http://schemas.openxmlformats.org/officeDocument/2006/relationships/slide" Target="/ppt/slides/slide1.xml" Id="R1081243c88a445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a66ac8450a4e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ompute Commons">
  <a:themeElements>
    <a:clrScheme name="Compute Common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ompute Common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633aa95170b433e" /><Relationship Type="http://schemas.openxmlformats.org/officeDocument/2006/relationships/notesMaster" Target="/ppt/notesMasters/notesMaster1.xml" Id="R3b6cab934f344e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 checked 2026-10-05: https://arxiv.org/abs/2506.07339 ; https://arxiv.org/abs/2410.05828 ; https://www.usenix.org/conference/nsdi20/presentation/mahajan ; https://timroughgarden.org/f13/l/l3.pdf . Numerical evidence: code/robot_results.json, version ps2-robot-revision-2026-10-05. Course template adapted, retaining original logo and layout. No participant or robot trials.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0eaba317a74e3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db2e7026ac4a78" /><Relationship Type="http://schemas.openxmlformats.org/officeDocument/2006/relationships/slideLayout" Target="/ppt/slideLayouts/slideLayout1.xml" Id="Re388c7f0c2bb4e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88c7f0c2bb4e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ompute Commons">
  <a:themeElements>
    <a:clrScheme name="Compute Common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ompute Common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a3e25180c94b7c" /><Relationship Type="http://schemas.openxmlformats.org/officeDocument/2006/relationships/image" Target="/ppt/media/image.png" Id="R321f4e205c9a4984" /><Relationship Type="http://schemas.openxmlformats.org/officeDocument/2006/relationships/notesSlide" Target="/ppt/notesSlides/notesSlide1.xml" Id="R04a0120c77d543d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top-brand-rule">
            <a:extLst xmlns:a="http://schemas.openxmlformats.org/drawingml/2006/main">
              <a:ext uri="{FF2B5EF4-FFF2-40B4-BE49-F238E27FC236}">
                <a16:creationId xmlns:a16="http://schemas.microsoft.com/office/drawing/2014/main" id="{FDACD238-30EA-433B-B9A8-2AB27062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ine">
            <a:extLst xmlns:a="http://schemas.openxmlformats.org/drawingml/2006/main">
              <a:ext uri="{FF2B5EF4-FFF2-40B4-BE49-F238E27FC236}">
                <a16:creationId xmlns:a16="http://schemas.microsoft.com/office/drawing/2014/main" id="{5806B552-CE06-4C40-BA14-45983C2D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781050"/>
            <a:ext cx="2886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COMSCI / ECON 206   |   PS2 RESEARCH SYMPOSIUM   |   FALL 2026</a:t>
            </a:r>
          </a:p>
        </p:txBody>
      </p:sp>
      <p:sp>
        <p:nvSpPr>
          <p:cNvPr id="3" name="version">
            <a:extLst xmlns:a="http://schemas.openxmlformats.org/drawingml/2006/main">
              <a:ext uri="{FF2B5EF4-FFF2-40B4-BE49-F238E27FC236}">
                <a16:creationId xmlns:a16="http://schemas.microsoft.com/office/drawing/2014/main" id="{05588AA4-5EDB-4475-A143-90877DB1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0" y="6153150"/>
            <a:ext cx="9810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2100" b="1">
                <a:solidFill>
                  <a:srgbClr val="00734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07343"/>
                </a:solidFill>
                <a:latin typeface="Calibri"/>
                <a:ea typeface="Calibri"/>
                <a:cs typeface="Calibri"/>
              </a:rPr>
              <a:t>RESEARCH REVISION · 5 OCTOBER 2026</a:t>
            </a:r>
          </a:p>
        </p:txBody>
      </p:sp>
      <p:sp>
        <p:nvSpPr>
          <p:cNvPr id="4" name="project-title">
            <a:extLst xmlns:a="http://schemas.openxmlformats.org/drawingml/2006/main">
              <a:ext uri="{FF2B5EF4-FFF2-40B4-BE49-F238E27FC236}">
                <a16:creationId xmlns:a16="http://schemas.microsoft.com/office/drawing/2014/main" id="{B66A5B7F-804A-4F30-B6A0-3C5C2AB4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3550"/>
            <a:ext cx="2914650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450" b="1">
                <a:solidFill>
                  <a:srgbClr val="003B87"/>
                </a:solidFill>
                <a:latin typeface="Calibri"/>
                <a:ea typeface="Calibri"/>
                <a:cs typeface="Calibri"/>
              </a:defRPr>
            </a:pPr>
            <a:r>
              <a:rPr sz="9450" b="1">
                <a:solidFill>
                  <a:srgbClr val="003B87"/>
                </a:solidFill>
                <a:latin typeface="Calibri"/>
                <a:ea typeface="Calibri"/>
                <a:cs typeface="Calibri"/>
              </a:rPr>
              <a:t>Compute Commons: Usable Access</a:t>
            </a:r>
          </a:p>
          <a:p xmlns:a="http://schemas.openxmlformats.org/drawingml/2006/main">
            <a:pPr algn="l">
              <a:buNone/>
              <a:defRPr sz="9450" b="1">
                <a:solidFill>
                  <a:srgbClr val="003B87"/>
                </a:solidFill>
                <a:latin typeface="Calibri"/>
                <a:ea typeface="Calibri"/>
                <a:cs typeface="Calibri"/>
              </a:defRPr>
            </a:pPr>
            <a:r>
              <a:rPr sz="9450" b="1">
                <a:solidFill>
                  <a:srgbClr val="003B87"/>
                </a:solidFill>
                <a:latin typeface="Calibri"/>
                <a:ea typeface="Calibri"/>
                <a:cs typeface="Calibri"/>
              </a:rPr>
              <a:t>to Robot Inference</a:t>
            </a:r>
          </a:p>
        </p:txBody>
      </p:sp>
      <p:sp>
        <p:nvSpPr>
          <p:cNvPr id="5" name="authors">
            <a:extLst xmlns:a="http://schemas.openxmlformats.org/drawingml/2006/main">
              <a:ext uri="{FF2B5EF4-FFF2-40B4-BE49-F238E27FC236}">
                <a16:creationId xmlns:a16="http://schemas.microsoft.com/office/drawing/2014/main" id="{439A7EDB-36D0-4D9A-9F53-6704B96A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57700"/>
            <a:ext cx="2857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4050" b="1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Xinrong Sun     FP9 · Compute Commons     Duke Kunshan University</a:t>
            </a:r>
          </a:p>
        </p:txBody>
      </p:sp>
      <p:sp>
        <p:nvSpPr>
          <p:cNvPr id="6" name="course-instructor">
            <a:extLst xmlns:a="http://schemas.openxmlformats.org/drawingml/2006/main">
              <a:ext uri="{FF2B5EF4-FFF2-40B4-BE49-F238E27FC236}">
                <a16:creationId xmlns:a16="http://schemas.microsoft.com/office/drawing/2014/main" id="{E0620329-B4C6-41DE-A2DD-7C1BAB05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29225"/>
            <a:ext cx="2857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0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Course instructor: Professor Luyao Zhang</a:t>
            </a:r>
          </a:p>
        </p:txBody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1f4e205c9a4984"/>
          <a:stretch xmlns:a="http://schemas.openxmlformats.org/drawingml/2006/main"/>
        </p:blipFill>
        <p:spPr>
          <a:xfrm xmlns:a="http://schemas.openxmlformats.org/drawingml/2006/main">
            <a:off x="32575500" y="2190750"/>
            <a:ext cx="8096250" cy="2595818"/>
          </a:xfrm>
          <a:prstGeom xmlns:a="http://schemas.openxmlformats.org/drawingml/2006/main" prst="rect">
            <a:avLst/>
          </a:prstGeom>
        </p:spPr>
      </p:pic>
      <p:sp>
        <p:nvSpPr>
          <p:cNvPr id="8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E5C59819-8AE8-4F07-93AA-7B6F5A9A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428040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akeaway-label">
            <a:extLst xmlns:a="http://schemas.openxmlformats.org/drawingml/2006/main">
              <a:ext uri="{FF2B5EF4-FFF2-40B4-BE49-F238E27FC236}">
                <a16:creationId xmlns:a16="http://schemas.microsoft.com/office/drawing/2014/main" id="{701690AD-D64E-4607-AE56-414773E6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7239000"/>
            <a:ext cx="466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KEY MESSAGE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83EFFE95-83CD-498B-99EF-83DF06C3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000875"/>
            <a:ext cx="3499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44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Robot state changes which compute allocations are usable.</a:t>
            </a:r>
          </a:p>
          <a:p xmlns:a="http://schemas.openxmlformats.org/drawingml/2006/main">
            <a:pPr algn="l">
              <a:buNone/>
              <a:defRPr sz="4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44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Physical feasibility also changes the incentive to bid truthfully.</a:t>
            </a:r>
          </a:p>
        </p:txBody>
      </p:sp>
      <p:sp>
        <p:nvSpPr>
          <p:cNvPr id="11" name="question-model-title">
            <a:extLst xmlns:a="http://schemas.openxmlformats.org/drawingml/2006/main">
              <a:ext uri="{FF2B5EF4-FFF2-40B4-BE49-F238E27FC236}">
                <a16:creationId xmlns:a16="http://schemas.microsoft.com/office/drawing/2014/main" id="{CD5C4DFB-E23C-429C-B167-B9CF4889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525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01   Question &amp; model</a:t>
            </a:r>
          </a:p>
        </p:txBody>
      </p:sp>
      <p:sp>
        <p:nvSpPr>
          <p:cNvPr id="12" name="question-model-title-rule">
            <a:extLst xmlns:a="http://schemas.openxmlformats.org/drawingml/2006/main">
              <a:ext uri="{FF2B5EF4-FFF2-40B4-BE49-F238E27FC236}">
                <a16:creationId xmlns:a16="http://schemas.microsoft.com/office/drawing/2014/main" id="{F81F4A35-5377-44CB-941D-4B8D9F26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506075"/>
            <a:ext cx="11049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search-question-heading">
            <a:extLst xmlns:a="http://schemas.openxmlformats.org/drawingml/2006/main">
              <a:ext uri="{FF2B5EF4-FFF2-40B4-BE49-F238E27FC236}">
                <a16:creationId xmlns:a16="http://schemas.microsoft.com/office/drawing/2014/main" id="{4190E777-F9CF-4131-93FB-BBFC74FF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144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Research question &amp; verified gap</a:t>
            </a:r>
          </a:p>
        </p:txBody>
      </p:sp>
      <p:sp>
        <p:nvSpPr>
          <p:cNvPr id="14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76FF89C4-3045-4C47-A236-4952EAA0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906250"/>
            <a:ext cx="11049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Can access policy deliver usable robot inference while preserving truthful value bids?</a:t>
            </a:r>
          </a:p>
          <a:p xmlns:a="http://schemas.openxmlformats.org/drawingml/2006/main">
            <a:pPr algn="l">
              <a:buNone/>
              <a:defRPr sz="3300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RTC studies delayed actions [1]. Deadline-aware planning already allocates effort [2]. Our comparison connects usable access to payments and entry priority.</a:t>
            </a:r>
          </a:p>
        </p:txBody>
      </p:sp>
      <p:sp>
        <p:nvSpPr>
          <p:cNvPr id="15" name="model-heading">
            <a:extLst xmlns:a="http://schemas.openxmlformats.org/drawingml/2006/main">
              <a:ext uri="{FF2B5EF4-FFF2-40B4-BE49-F238E27FC236}">
                <a16:creationId xmlns:a16="http://schemas.microsoft.com/office/drawing/2014/main" id="{19910E6B-D44C-401D-8E76-04691CDB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1447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Strategic model &amp; foundations</a:t>
            </a:r>
          </a:p>
        </p:txBody>
      </p:sp>
      <p:sp>
        <p:nvSpPr>
          <p:cNvPr id="16" name="model">
            <a:extLst xmlns:a="http://schemas.openxmlformats.org/drawingml/2006/main">
              <a:ext uri="{FF2B5EF4-FFF2-40B4-BE49-F238E27FC236}">
                <a16:creationId xmlns:a16="http://schemas.microsoft.com/office/drawing/2014/main" id="{BD93B7B7-C6A1-4C6C-8B07-9664A884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906750"/>
            <a:ext cx="11049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Four operators: values A = 10, B = 9, D = 8, E = 6. One server, 400 ms, 200 ms per inference. Only E is an eligible entrant.</a:t>
            </a:r>
          </a:p>
          <a:p xmlns:a="http://schemas.openxmlformats.org/drawingml/2006/main">
            <a:pPr algn="l">
              <a:buNone/>
              <a:defRPr sz="3300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Deadline = min(queue time, pose-validity time) minus network delay. State is public; value is private.</a:t>
            </a:r>
          </a:p>
        </p:txBody>
      </p:sp>
      <p:sp>
        <p:nvSpPr>
          <p:cNvPr id="17" name="lenses-heading">
            <a:extLst xmlns:a="http://schemas.openxmlformats.org/drawingml/2006/main">
              <a:ext uri="{FF2B5EF4-FFF2-40B4-BE49-F238E27FC236}">
                <a16:creationId xmlns:a16="http://schemas.microsoft.com/office/drawing/2014/main" id="{DAFBC93E-B2F0-417F-9381-A98FDF50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526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Three complementary lenses</a:t>
            </a:r>
          </a:p>
        </p:txBody>
      </p:sp>
      <p:sp>
        <p:nvSpPr>
          <p:cNvPr id="18" name="lenses">
            <a:extLst xmlns:a="http://schemas.openxmlformats.org/drawingml/2006/main">
              <a:ext uri="{FF2B5EF4-FFF2-40B4-BE49-F238E27FC236}">
                <a16:creationId xmlns:a16="http://schemas.microsoft.com/office/drawing/2014/main" id="{E2BAF178-74E4-4DFF-A2BB-763467E7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288250"/>
            <a:ext cx="110490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Game theory: truthful values require timely service and critical payments.</a:t>
            </a:r>
          </a:p>
          <a:p xmlns:a="http://schemas.openxmlformats.org/drawingml/2006/main">
            <a:pPr algn="l">
              <a:buNone/>
              <a:defRPr sz="3300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Social choice: usable entrant access can cost task value.</a:t>
            </a:r>
          </a:p>
          <a:p xmlns:a="http://schemas.openxmlformats.org/drawingml/2006/main">
            <a:pPr algn="l">
              <a:buNone/>
              <a:defRPr sz="3300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Mechanism design: optimize credited bids over physically feasible schedules.</a:t>
            </a:r>
          </a:p>
        </p:txBody>
      </p:sp>
      <p:sp>
        <p:nvSpPr>
          <p:cNvPr id="19" name="auction-heading">
            <a:extLst xmlns:a="http://schemas.openxmlformats.org/drawingml/2006/main">
              <a:ext uri="{FF2B5EF4-FFF2-40B4-BE49-F238E27FC236}">
                <a16:creationId xmlns:a16="http://schemas.microsoft.com/office/drawing/2014/main" id="{0A85FF4E-C110-48A1-8567-A06DAC93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336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Auction or allocation comparison</a:t>
            </a:r>
          </a:p>
        </p:txBody>
      </p:sp>
      <p:sp>
        <p:nvSpPr>
          <p:cNvPr id="20" name="auction">
            <a:extLst xmlns:a="http://schemas.openxmlformats.org/drawingml/2006/main">
              <a:ext uri="{FF2B5EF4-FFF2-40B4-BE49-F238E27FC236}">
                <a16:creationId xmlns:a16="http://schemas.microsoft.com/office/drawing/2014/main" id="{182900A4-D41C-4FC8-8D3B-A44A8758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098250"/>
            <a:ext cx="110490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150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Enumerate feasible subsets; dispatch in deadline order. Charge each winner the bid threshold needed to enter a winning set. Losers pay zero.</a:t>
            </a:r>
          </a:p>
          <a:p xmlns:a="http://schemas.openxmlformats.org/drawingml/2006/main">
            <a:pPr algn="l">
              <a:buNone/>
              <a:defRPr sz="3150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150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One sealed round ends after execution and settlement. Telemetry and eligibility must be verified.</a:t>
            </a:r>
          </a:p>
        </p:txBody>
      </p:sp>
      <p:sp>
        <p:nvSpPr>
          <p:cNvPr id="21" name="design-evidence-title">
            <a:extLst xmlns:a="http://schemas.openxmlformats.org/drawingml/2006/main">
              <a:ext uri="{FF2B5EF4-FFF2-40B4-BE49-F238E27FC236}">
                <a16:creationId xmlns:a16="http://schemas.microsoft.com/office/drawing/2014/main" id="{5BD8C5A5-8D38-4D0E-9168-5677F645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9525000"/>
            <a:ext cx="16134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02   Design &amp; evidence</a:t>
            </a:r>
          </a:p>
        </p:txBody>
      </p:sp>
      <p:sp>
        <p:nvSpPr>
          <p:cNvPr id="22" name="design-evidence-title-rule">
            <a:extLst xmlns:a="http://schemas.openxmlformats.org/drawingml/2006/main">
              <a:ext uri="{FF2B5EF4-FFF2-40B4-BE49-F238E27FC236}">
                <a16:creationId xmlns:a16="http://schemas.microsoft.com/office/drawing/2014/main" id="{3074EA74-1821-4014-8E91-ECC3F7A8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0506075"/>
            <a:ext cx="1613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research-design-area">
            <a:extLst xmlns:a="http://schemas.openxmlformats.org/drawingml/2006/main">
              <a:ext uri="{FF2B5EF4-FFF2-40B4-BE49-F238E27FC236}">
                <a16:creationId xmlns:a16="http://schemas.microsoft.com/office/drawing/2014/main" id="{6BFB0873-E93B-425C-B20A-BE7D9281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1144250"/>
            <a:ext cx="161340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7"/>
          </a:solidFill>
          <a:ln xmlns:a="http://schemas.openxmlformats.org/drawingml/2006/main" w="19050">
            <a:solidFill>
              <a:srgbClr val="CFD5D9"/>
            </a:solidFill>
            <a:prstDash val="solid"/>
          </a:ln>
        </p:spPr>
      </p:sp>
      <p:sp>
        <p:nvSpPr>
          <p:cNvPr id="24" name="research-design-label">
            <a:extLst xmlns:a="http://schemas.openxmlformats.org/drawingml/2006/main">
              <a:ext uri="{FF2B5EF4-FFF2-40B4-BE49-F238E27FC236}">
                <a16:creationId xmlns:a16="http://schemas.microsoft.com/office/drawing/2014/main" id="{8126654C-9B1A-4166-BD33-50CD41EA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54125" y="11382375"/>
            <a:ext cx="14895766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003B87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03B87"/>
                </a:solidFill>
                <a:latin typeface="Calibri"/>
                <a:ea typeface="Calibri"/>
                <a:cs typeface="Calibri"/>
              </a:rPr>
              <a:t>Robot-state constraints define usable service</a:t>
            </a:r>
          </a:p>
        </p:txBody>
      </p:sp>
      <p:sp>
        <p:nvSpPr>
          <p:cNvPr id="25" name="research-design-prompt">
            <a:extLst xmlns:a="http://schemas.openxmlformats.org/drawingml/2006/main">
              <a:ext uri="{FF2B5EF4-FFF2-40B4-BE49-F238E27FC236}">
                <a16:creationId xmlns:a16="http://schemas.microsoft.com/office/drawing/2014/main" id="{FB9F3C40-7F71-42C4-93FE-A2A20CF3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9875" y="14013180"/>
            <a:ext cx="143242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9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9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6" name="design-caption">
            <a:extLst xmlns:a="http://schemas.openxmlformats.org/drawingml/2006/main">
              <a:ext uri="{FF2B5EF4-FFF2-40B4-BE49-F238E27FC236}">
                <a16:creationId xmlns:a16="http://schemas.microsoft.com/office/drawing/2014/main" id="{70CF347C-1901-4936-A975-9657C353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6097250"/>
            <a:ext cx="16134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2850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Figure 1. A has only 200 ms of queued actions. B has 400 ms of actions, but target motion makes its pose stale after 200 ms. All numbers are synthetic.</a:t>
            </a:r>
          </a:p>
        </p:txBody>
      </p:sp>
      <p:sp>
        <p:nvSpPr>
          <p:cNvPr id="27" name="main-result-area">
            <a:extLst xmlns:a="http://schemas.openxmlformats.org/drawingml/2006/main">
              <a:ext uri="{FF2B5EF4-FFF2-40B4-BE49-F238E27FC236}">
                <a16:creationId xmlns:a16="http://schemas.microsoft.com/office/drawing/2014/main" id="{AF352E9D-B9F1-4E49-9DC0-059C3E7F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7621250"/>
            <a:ext cx="16134000" cy="628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7"/>
          </a:solidFill>
          <a:ln xmlns:a="http://schemas.openxmlformats.org/drawingml/2006/main" w="19050">
            <a:solidFill>
              <a:srgbClr val="CFD5D9"/>
            </a:solidFill>
            <a:prstDash val="solid"/>
          </a:ln>
        </p:spPr>
      </p:sp>
      <p:sp>
        <p:nvSpPr>
          <p:cNvPr id="28" name="main-result-label">
            <a:extLst xmlns:a="http://schemas.openxmlformats.org/drawingml/2006/main">
              <a:ext uri="{FF2B5EF4-FFF2-40B4-BE49-F238E27FC236}">
                <a16:creationId xmlns:a16="http://schemas.microsoft.com/office/drawing/2014/main" id="{A95FDDB5-DC34-4CBB-B5F4-3B143142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54125" y="17859375"/>
            <a:ext cx="14895766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003B87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03B87"/>
                </a:solidFill>
                <a:latin typeface="Calibri"/>
                <a:ea typeface="Calibri"/>
                <a:cs typeface="Calibri"/>
              </a:rPr>
              <a:t>Actual synthetic comparison: usable value</a:t>
            </a:r>
          </a:p>
        </p:txBody>
      </p:sp>
      <p:sp>
        <p:nvSpPr>
          <p:cNvPr id="29" name="main-result-prompt">
            <a:extLst xmlns:a="http://schemas.openxmlformats.org/drawingml/2006/main">
              <a:ext uri="{FF2B5EF4-FFF2-40B4-BE49-F238E27FC236}">
                <a16:creationId xmlns:a16="http://schemas.microsoft.com/office/drawing/2014/main" id="{20FD9DFC-1B88-4B17-A251-EA9C62AC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9875" y="21105495"/>
            <a:ext cx="143242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9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9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0" name="result-caption">
            <a:extLst xmlns:a="http://schemas.openxmlformats.org/drawingml/2006/main">
              <a:ext uri="{FF2B5EF4-FFF2-40B4-BE49-F238E27FC236}">
                <a16:creationId xmlns:a16="http://schemas.microsoft.com/office/drawing/2014/main" id="{C7A388AE-9A9C-4C69-A215-69F12E63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241125"/>
            <a:ext cx="161340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75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075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Generic admission gives B an expired result and utility −8. B can gain by bidding zero.</a:t>
            </a:r>
          </a:p>
          <a:p xmlns:a="http://schemas.openxmlformats.org/drawingml/2006/main">
            <a:pPr algn="l">
              <a:buNone/>
              <a:defRPr sz="3075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075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Feasible admission restores the stated incentive domain. Credit 3 exchanges 2 value units for usable access by E.</a:t>
            </a:r>
          </a:p>
          <a:p xmlns:a="http://schemas.openxmlformats.org/drawingml/2006/main">
            <a:pPr algn="l">
              <a:buNone/>
              <a:defRPr sz="3075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075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36,289 checks; 300 paired synthetic batches. Run code/robot_model.py.</a:t>
            </a:r>
          </a:p>
        </p:txBody>
      </p:sp>
      <p:sp>
        <p:nvSpPr>
          <p:cNvPr id="31" name="impact-title">
            <a:extLst xmlns:a="http://schemas.openxmlformats.org/drawingml/2006/main">
              <a:ext uri="{FF2B5EF4-FFF2-40B4-BE49-F238E27FC236}">
                <a16:creationId xmlns:a16="http://schemas.microsoft.com/office/drawing/2014/main" id="{7974BDE9-47C8-4976-9EB0-1D99D2AD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9525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03   Impact &amp; dialogue</a:t>
            </a:r>
          </a:p>
        </p:txBody>
      </p:sp>
      <p:sp>
        <p:nvSpPr>
          <p:cNvPr id="32" name="impact-title-rule">
            <a:extLst xmlns:a="http://schemas.openxmlformats.org/drawingml/2006/main">
              <a:ext uri="{FF2B5EF4-FFF2-40B4-BE49-F238E27FC236}">
                <a16:creationId xmlns:a16="http://schemas.microsoft.com/office/drawing/2014/main" id="{92EF0681-32CB-4E92-B477-91FDD7DB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0506075"/>
            <a:ext cx="11049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real-world-heading">
            <a:extLst xmlns:a="http://schemas.openxmlformats.org/drawingml/2006/main">
              <a:ext uri="{FF2B5EF4-FFF2-40B4-BE49-F238E27FC236}">
                <a16:creationId xmlns:a16="http://schemas.microsoft.com/office/drawing/2014/main" id="{8D7A544D-17E0-43AC-A769-0DC992E2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1144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B87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B87"/>
                </a:solidFill>
                <a:latin typeface="Calibri"/>
                <a:ea typeface="Calibri"/>
                <a:cs typeface="Calibri"/>
              </a:rPr>
              <a:t>Proposed case: shared manipulation inference</a:t>
            </a:r>
          </a:p>
        </p:txBody>
      </p:sp>
      <p:sp>
        <p:nvSpPr>
          <p:cNvPr id="34" name="real-world">
            <a:extLst xmlns:a="http://schemas.openxmlformats.org/drawingml/2006/main">
              <a:ext uri="{FF2B5EF4-FFF2-40B4-BE49-F238E27FC236}">
                <a16:creationId xmlns:a16="http://schemas.microsoft.com/office/drawing/2014/main" id="{2199F087-3016-48E4-80F0-4F875A71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1906250"/>
            <a:ext cx="11049000" cy="3571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Small integrators and incumbent operators share a tabletop pick-and-place inference service.</a:t>
            </a:r>
          </a:p>
          <a:p xmlns:a="http://schemas.openxmlformats.org/drawingml/2006/main">
            <a:pPr algn="l">
              <a:buNone/>
              <a:defRPr sz="3300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Measure queue depth, object motion, latency and accepted actions. Workers control reserved evaluation time. Operators can appeal state or eligibility errors. Local controllers handle protective stopping.</a:t>
            </a:r>
          </a:p>
        </p:txBody>
      </p:sp>
      <p:sp>
        <p:nvSpPr>
          <p:cNvPr id="35" name="interdisciplinary-heading">
            <a:extLst xmlns:a="http://schemas.openxmlformats.org/drawingml/2006/main">
              <a:ext uri="{FF2B5EF4-FFF2-40B4-BE49-F238E27FC236}">
                <a16:creationId xmlns:a16="http://schemas.microsoft.com/office/drawing/2014/main" id="{1E996ED0-A32A-4617-8E65-E6ED026E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58115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Interdisciplinary evidence</a:t>
            </a:r>
          </a:p>
        </p:txBody>
      </p:sp>
      <p:sp>
        <p:nvSpPr>
          <p:cNvPr id="36" name="interdisciplinary">
            <a:extLst xmlns:a="http://schemas.openxmlformats.org/drawingml/2006/main">
              <a:ext uri="{FF2B5EF4-FFF2-40B4-BE49-F238E27FC236}">
                <a16:creationId xmlns:a16="http://schemas.microsoft.com/office/drawing/2014/main" id="{91D1D813-AECB-4965-9667-285D2DDC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6573500"/>
            <a:ext cx="11049000" cy="523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225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Behavior: predict a payment and timely completion before seeing the result; export reflection and regret. No human findings are claimed.</a:t>
            </a:r>
          </a:p>
          <a:p xmlns:a="http://schemas.openxmlformats.org/drawingml/2006/main">
            <a:pPr algn="l">
              <a:buNone/>
              <a:defRPr sz="3225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225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Computation: exact feasible allocation, EDF baseline, state ablations and network-delay stress.</a:t>
            </a:r>
          </a:p>
          <a:p xmlns:a="http://schemas.openxmlformats.org/drawingml/2006/main">
            <a:pPr algn="l">
              <a:buNone/>
              <a:defRPr sz="3225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225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In 300 synthetic batches, mean usable value is 43.06 for feasible allocation and 38.86 for EDF. These are model outcomes, not robot measurements.</a:t>
            </a:r>
          </a:p>
        </p:txBody>
      </p:sp>
      <p:sp>
        <p:nvSpPr>
          <p:cNvPr id="37" name="limits-heading">
            <a:extLst xmlns:a="http://schemas.openxmlformats.org/drawingml/2006/main">
              <a:ext uri="{FF2B5EF4-FFF2-40B4-BE49-F238E27FC236}">
                <a16:creationId xmlns:a16="http://schemas.microsoft.com/office/drawing/2014/main" id="{68ADFBED-634F-4EFD-A437-EF921500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2193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Limitations &amp; next test</a:t>
            </a:r>
          </a:p>
        </p:txBody>
      </p:sp>
      <p:sp>
        <p:nvSpPr>
          <p:cNvPr id="38" name="limits">
            <a:extLst xmlns:a="http://schemas.openxmlformats.org/drawingml/2006/main">
              <a:ext uri="{FF2B5EF4-FFF2-40B4-BE49-F238E27FC236}">
                <a16:creationId xmlns:a16="http://schemas.microsoft.com/office/drawing/2014/main" id="{B297720D-E873-4F17-88AF-AF30E5F6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2955250"/>
            <a:ext cx="1104900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225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No robot trials, learned policy, safety proof or dynamic equilibrium. Exact enumeration is an offline oracle.</a:t>
            </a:r>
          </a:p>
          <a:p xmlns:a="http://schemas.openxmlformats.org/drawingml/2006/main">
            <a:pPr algn="l">
              <a:buNone/>
              <a:defRPr sz="3225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3225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Next: calibrated traces, solver-overhead measurement, controlled robot trials and a comprehension pilot.</a:t>
            </a:r>
          </a:p>
        </p:txBody>
      </p:sp>
      <p:sp>
        <p:nvSpPr>
          <p:cNvPr id="39" name="dates">
            <a:extLst xmlns:a="http://schemas.openxmlformats.org/drawingml/2006/main">
              <a:ext uri="{FF2B5EF4-FFF2-40B4-BE49-F238E27FC236}">
                <a16:creationId xmlns:a16="http://schemas.microsoft.com/office/drawing/2014/main" id="{EA157D18-CC9B-4A0B-91A5-3BE26B8F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5812750"/>
            <a:ext cx="1104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7343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7343"/>
                </a:solidFill>
                <a:latin typeface="Calibri"/>
                <a:ea typeface="Calibri"/>
                <a:cs typeface="Calibri"/>
              </a:rPr>
              <a:t>Reserve 100 ms: commercial value 10.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007343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7343"/>
                </a:solidFill>
                <a:latin typeface="Calibri"/>
                <a:ea typeface="Calibri"/>
                <a:cs typeface="Calibri"/>
              </a:rPr>
              <a:t>Reserve + credit 5: E wins, value 6.</a:t>
            </a:r>
          </a:p>
        </p:txBody>
      </p:sp>
      <p:sp>
        <p:nvSpPr>
          <p:cNvPr id="4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4CE48EC-E121-4C2A-81BE-8C70F6F4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527250"/>
            <a:ext cx="40137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ack-heading">
            <a:extLst xmlns:a="http://schemas.openxmlformats.org/drawingml/2006/main">
              <a:ext uri="{FF2B5EF4-FFF2-40B4-BE49-F238E27FC236}">
                <a16:creationId xmlns:a16="http://schemas.microsoft.com/office/drawing/2014/main" id="{CC1B0A45-EEBC-4636-8C8B-F8804355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8130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Acknowledgments</a:t>
            </a:r>
          </a:p>
        </p:txBody>
      </p:sp>
      <p:sp>
        <p:nvSpPr>
          <p:cNvPr id="42" name="ack">
            <a:extLst xmlns:a="http://schemas.openxmlformats.org/drawingml/2006/main">
              <a:ext uri="{FF2B5EF4-FFF2-40B4-BE49-F238E27FC236}">
                <a16:creationId xmlns:a16="http://schemas.microsoft.com/office/drawing/2014/main" id="{1C589FA2-42B8-4C7A-9C87-A446B786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479750"/>
            <a:ext cx="11049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Xinrong Sun developed the original project and identified the revision need. Thanks to Professor Luyao Zhang for feedback and templates. Codex assisted revision; disclosure is in the paper.</a:t>
            </a:r>
          </a:p>
        </p:txBody>
      </p:sp>
      <p:sp>
        <p:nvSpPr>
          <p:cNvPr id="43" name="references-heading">
            <a:extLst xmlns:a="http://schemas.openxmlformats.org/drawingml/2006/main">
              <a:ext uri="{FF2B5EF4-FFF2-40B4-BE49-F238E27FC236}">
                <a16:creationId xmlns:a16="http://schemas.microsoft.com/office/drawing/2014/main" id="{E7EA3AAE-744F-4F03-A737-D3056A09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7813000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Selected references</a:t>
            </a:r>
          </a:p>
        </p:txBody>
      </p:sp>
      <p:sp>
        <p:nvSpPr>
          <p:cNvPr id="44" name="references">
            <a:extLst xmlns:a="http://schemas.openxmlformats.org/drawingml/2006/main">
              <a:ext uri="{FF2B5EF4-FFF2-40B4-BE49-F238E27FC236}">
                <a16:creationId xmlns:a16="http://schemas.microsoft.com/office/drawing/2014/main" id="{0ECEF328-5F03-4179-A929-2458DB1F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8384500"/>
            <a:ext cx="16134016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[1] Black et al. (2025). Real-Time Execution of Action Chunking Flow Policies. arXiv:2506.07339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[2] Sung et al. (2024). Deadline-Aware Task and Motion Planning. arXiv:2410.05828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[3] Mahajan et al. (2020). Themis. NSDI. [4] Roughgarden (2013). Myerson’s Lemma.</a:t>
            </a:r>
          </a:p>
        </p:txBody>
      </p:sp>
      <p:sp>
        <p:nvSpPr>
          <p:cNvPr id="45" name="access-heading">
            <a:extLst xmlns:a="http://schemas.openxmlformats.org/drawingml/2006/main">
              <a:ext uri="{FF2B5EF4-FFF2-40B4-BE49-F238E27FC236}">
                <a16:creationId xmlns:a16="http://schemas.microsoft.com/office/drawing/2014/main" id="{49F540C3-5DD7-4CE8-9BCD-20A72A49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7813000"/>
            <a:ext cx="1104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OPEN MATERIALS</a:t>
            </a:r>
          </a:p>
        </p:txBody>
      </p:sp>
      <p:sp>
        <p:nvSpPr>
          <p:cNvPr id="46" name="access-links">
            <a:extLst xmlns:a="http://schemas.openxmlformats.org/drawingml/2006/main">
              <a:ext uri="{FF2B5EF4-FFF2-40B4-BE49-F238E27FC236}">
                <a16:creationId xmlns:a16="http://schemas.microsoft.com/office/drawing/2014/main" id="{35C264DA-792D-48F7-AE3C-F21A5E9A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17" y="28384500"/>
            <a:ext cx="11049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GitHub: dku-comsci-econ206-Autumn2026 /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-PS2-FP9-ComputeCommons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HF: dku-comsci-econ206-2026 / compute-commons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Source and release status accompany the package.</a:t>
            </a:r>
          </a:p>
        </p:txBody>
      </p:sp>
      <p:sp>
        <p:nvSpPr>
          <p:cNvPr id="47" name="hf-qr-placeholder">
            <a:extLst xmlns:a="http://schemas.openxmlformats.org/drawingml/2006/main">
              <a:ext uri="{FF2B5EF4-FFF2-40B4-BE49-F238E27FC236}">
                <a16:creationId xmlns:a16="http://schemas.microsoft.com/office/drawing/2014/main" id="{296FE813-8DC2-4185-ADA6-A77390D7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32125" y="28403550"/>
            <a:ext cx="876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8" name="hf-qr-label">
            <a:extLst xmlns:a="http://schemas.openxmlformats.org/drawingml/2006/main">
              <a:ext uri="{FF2B5EF4-FFF2-40B4-BE49-F238E27FC236}">
                <a16:creationId xmlns:a16="http://schemas.microsoft.com/office/drawing/2014/main" id="{E242BD6C-81B6-4B83-927B-ABE99A7D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98800" y="28508325"/>
            <a:ext cx="7429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github-qr-placeholder">
            <a:extLst xmlns:a="http://schemas.openxmlformats.org/drawingml/2006/main">
              <a:ext uri="{FF2B5EF4-FFF2-40B4-BE49-F238E27FC236}">
                <a16:creationId xmlns:a16="http://schemas.microsoft.com/office/drawing/2014/main" id="{63890B80-6191-47DE-888B-3D958CCA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98950" y="28403550"/>
            <a:ext cx="876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0" name="github-qr-label">
            <a:extLst xmlns:a="http://schemas.openxmlformats.org/drawingml/2006/main">
              <a:ext uri="{FF2B5EF4-FFF2-40B4-BE49-F238E27FC236}">
                <a16:creationId xmlns:a16="http://schemas.microsoft.com/office/drawing/2014/main" id="{ADAD9B08-81E1-4FA5-99E7-6DC63E0C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18000" y="28508325"/>
            <a:ext cx="857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format-note">
            <a:extLst xmlns:a="http://schemas.openxmlformats.org/drawingml/2006/main">
              <a:ext uri="{FF2B5EF4-FFF2-40B4-BE49-F238E27FC236}">
                <a16:creationId xmlns:a16="http://schemas.microsoft.com/office/drawing/2014/main" id="{49DEC60E-E378-41A7-B1C9-EC4712C5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813250"/>
            <a:ext cx="4013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3047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73047"/>
                </a:solidFill>
                <a:latin typeface="Calibri"/>
                <a:ea typeface="Calibri"/>
                <a:cs typeface="Calibri"/>
              </a:rPr>
              <a:t>A0 landscape · 1189 × 841 mm     Synthetic evidence. Final human review and actual symposium records must be confirmed before submission.</a:t>
            </a:r>
          </a:p>
        </p:txBody>
      </p:sp>
      <p:graphicFrame>
        <p:nvGraphicFramePr>
          <p:cNvPr id="107" name=""/>
          <p:cNvGraphicFramePr/>
          <p:nvPr/>
        </p:nvGraphicFramePr>
        <p:xfrm>
          <a:off xmlns:a="http://schemas.openxmlformats.org/drawingml/2006/main" x="13954125" y="12382500"/>
          <a:ext xmlns:a="http://schemas.openxmlformats.org/drawingml/2006/main" cx="148590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000750"/>
                <a:gridCol w="4429125"/>
                <a:gridCol w="4429125"/>
              </a:tblGrid>
              <a:tr h="609600">
                <a:tc>
                  <a:txBody>
                    <a:bodyPr/>
                    <a:lstStyle/>
                    <a:p>
                      <a:r>
                        <a:rPr sz="3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Robot</a:t>
                      </a:r>
                    </a:p>
                  </a:txBody>
                  <a:tcPr marL="91440" marR="91440" marT="45720" marB="45720">
                    <a:solidFill>
                      <a:srgbClr val="003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Queue / pose time</a:t>
                      </a:r>
                    </a:p>
                  </a:txBody>
                  <a:tcPr marL="91440" marR="91440" marT="45720" marB="45720">
                    <a:solidFill>
                      <a:srgbClr val="003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Deadline</a:t>
                      </a:r>
                    </a:p>
                  </a:txBody>
                  <a:tcPr marL="91440" marR="91440" marT="45720" marB="45720">
                    <a:solidFill>
                      <a:srgbClr val="003B8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200 / 400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200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B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400 / 200 ms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200 ms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400 / 400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400 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E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400 / 400 ms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400 ms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8" name=""/>
          <p:cNvGraphicFramePr/>
          <p:nvPr/>
        </p:nvGraphicFramePr>
        <p:xfrm>
          <a:off xmlns:a="http://schemas.openxmlformats.org/drawingml/2006/main" x="13954125" y="18859500"/>
          <a:ext xmlns:a="http://schemas.openxmlformats.org/drawingml/2006/main" cx="14859000" cy="4191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095500"/>
                <a:gridCol w="2857500"/>
                <a:gridCol w="2286000"/>
                <a:gridCol w="1809750"/>
                <a:gridCol w="1809750"/>
              </a:tblGrid>
              <a:tr h="838200">
                <a:tc>
                  <a:txBody>
                    <a:bodyPr/>
                    <a:lstStyle/>
                    <a:p>
                      <a:r>
                        <a:rPr sz="3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Rule</a:t>
                      </a:r>
                    </a:p>
                  </a:txBody>
                  <a:tcPr marL="91440" marR="91440" marT="45720" marB="45720">
                    <a:solidFill>
                      <a:srgbClr val="003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Admit</a:t>
                      </a:r>
                    </a:p>
                  </a:txBody>
                  <a:tcPr marL="91440" marR="91440" marT="45720" marB="45720">
                    <a:solidFill>
                      <a:srgbClr val="003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Pay</a:t>
                      </a:r>
                    </a:p>
                  </a:txBody>
                  <a:tcPr marL="91440" marR="91440" marT="45720" marB="45720">
                    <a:solidFill>
                      <a:srgbClr val="003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Usable</a:t>
                      </a:r>
                    </a:p>
                  </a:txBody>
                  <a:tcPr marL="91440" marR="91440" marT="45720" marB="45720">
                    <a:solidFill>
                      <a:srgbClr val="003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Value</a:t>
                      </a:r>
                    </a:p>
                  </a:txBody>
                  <a:tcPr marL="91440" marR="91440" marT="45720" marB="45720">
                    <a:solidFill>
                      <a:srgbClr val="003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Rev.</a:t>
                      </a:r>
                    </a:p>
                  </a:txBody>
                  <a:tcPr marL="91440" marR="91440" marT="45720" marB="45720">
                    <a:solidFill>
                      <a:srgbClr val="003B87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Generic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A, 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8 / 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16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EDF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A, D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0 / 0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A, D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18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Feasible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A, 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9 / 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A, 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18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15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Credit 3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A, E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9 / 5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A, E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16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000" b="0">
                          <a:solidFill>
                            <a:srgbClr val="173047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398217"/>
      </p:ext>
    </p:extLst>
  </p:cSld>
</p:sld>
</file>

<file path=ppt/theme/theme1.xml><?xml version="1.0" encoding="utf-8"?>
<a:theme xmlns:a="http://schemas.openxmlformats.org/drawingml/2006/main" name="Compute Commons">
  <a:themeElements>
    <a:clrScheme name="Compute Common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ompute Common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2026-10-05T14:16:01.6040000Z</dcterms:created>
  <dcterms:modified xsi:type="dcterms:W3CDTF">2026-10-05T14:16:01.6040000Z</dcterms:modified>
</coreProperties>
</file>