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0f7761af534d49" /><Relationship Type="http://schemas.openxmlformats.org/officeDocument/2006/relationships/extended-properties" Target="/docProps/app.xml" Id="R24c3206c349046d1" /><Relationship Type="http://schemas.openxmlformats.org/officeDocument/2006/relationships/officeDocument" Target="/ppt/presentation.xml" Id="R0d0dbfee85c641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739f7dc375477c"/>
  </p:sldMasterIdLst>
  <p:notesMasterIdLst>
    <p:notesMasterId xmlns:r="http://schemas.openxmlformats.org/officeDocument/2006/relationships" r:id="R646c64291fee43bb"/>
  </p:notesMasterIdLst>
  <p:sldIdLst>
    <p:sldId xmlns:r="http://schemas.openxmlformats.org/officeDocument/2006/relationships" id="256" r:id="Re4fd1df03123433f"/>
  </p:sldIdLst>
  <p:sldSz cx="4280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db9cc5ace74b8e" /><Relationship Type="http://schemas.openxmlformats.org/officeDocument/2006/relationships/slideMaster" Target="/ppt/slideMasters/slideMaster1.xml" Id="R99739f7dc375477c" /><Relationship Type="http://schemas.openxmlformats.org/officeDocument/2006/relationships/notesMaster" Target="/ppt/notesMasters/notesMaster1.xml" Id="R646c64291fee43bb" /><Relationship Type="http://schemas.openxmlformats.org/officeDocument/2006/relationships/presProps" Target="/ppt/presProps.xml" Id="Redafdc6cebc84aa3" /><Relationship Type="http://schemas.openxmlformats.org/officeDocument/2006/relationships/tableStyles" Target="/ppt/tableStyles.xml" Id="R3159bc96b42d4594" /><Relationship Type="http://schemas.openxmlformats.org/officeDocument/2006/relationships/slide" Target="/ppt/slides/slide1.xml" Id="Re4fd1df0312343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0eff726d0640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c5661c75984d2c" /><Relationship Type="http://schemas.openxmlformats.org/officeDocument/2006/relationships/notesMaster" Target="/ppt/notesMasters/notesMaster1.xml" Id="R8e5a27bdb8274b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Vickrey (1961), DOI 10.1111/j.1540-6261.1961.tb02789.x; Mahajan et al. (2020), https://www.usenix.org/conference/nsdi20/presentation/mahajan; Kim et al. (2024), https://openvla.github.io/. All table outputs are synthetic fresh-run results from code/model.py, version ps2-review-2026-09-27. Designated GitHub: https://github.com/dku-comsci-econ206-Autumn2026/-PS2-FP9-ComputeCommons; Hugging Face: https://huggingface.co/spaces/dku-comsci-econ206-2026/Xinrong_Sun. PS2 upload pending. AI assistance disclosed in the paper. Template dimensions, institutional logo, colors and layout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17959a41594d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a7279e12f241bd" /><Relationship Type="http://schemas.openxmlformats.org/officeDocument/2006/relationships/slideLayout" Target="/ppt/slideLayouts/slideLayout1.xml" Id="R9c3512a1ad9845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3512a1ad9845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570f566bd411b" /><Relationship Type="http://schemas.openxmlformats.org/officeDocument/2006/relationships/image" Target="/ppt/media/image.png" Id="Rb450d9042a344185" /><Relationship Type="http://schemas.openxmlformats.org/officeDocument/2006/relationships/notesSlide" Target="/ppt/notesSlides/notesSlide1.xml" Id="R96d974c4be6440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op-brand-rule">
            <a:extLst xmlns:a="http://schemas.openxmlformats.org/drawingml/2006/main">
              <a:ext uri="{FF2B5EF4-FFF2-40B4-BE49-F238E27FC236}">
                <a16:creationId xmlns:a16="http://schemas.microsoft.com/office/drawing/2014/main" id="{FDACD238-30EA-433B-B9A8-2AB27062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ine">
            <a:extLst xmlns:a="http://schemas.openxmlformats.org/drawingml/2006/main">
              <a:ext uri="{FF2B5EF4-FFF2-40B4-BE49-F238E27FC236}">
                <a16:creationId xmlns:a16="http://schemas.microsoft.com/office/drawing/2014/main" id="{5806B552-CE06-4C40-BA14-45983C2D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81050"/>
            <a:ext cx="2886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COMSCI / ECON 206   |   PS2 RESEARCH SYMPOSIUM   |   FALL 2026</a:t>
            </a:r>
          </a:p>
        </p:txBody>
      </p:sp>
      <p:sp>
        <p:nvSpPr>
          <p:cNvPr id="3" name="version">
            <a:extLst xmlns:a="http://schemas.openxmlformats.org/drawingml/2006/main">
              <a:ext uri="{FF2B5EF4-FFF2-40B4-BE49-F238E27FC236}">
                <a16:creationId xmlns:a16="http://schemas.microsoft.com/office/drawing/2014/main" id="{05588AA4-5EDB-4475-A143-90877DB1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0" y="6153150"/>
            <a:ext cx="981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00734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7343"/>
                </a:solidFill>
                <a:latin typeface="Calibri"/>
                <a:ea typeface="Calibri"/>
                <a:cs typeface="Calibri"/>
              </a:rPr>
              <a:t>REVIEW DRAFT · 27 SEPTEMBER 2026</a:t>
            </a:r>
          </a:p>
        </p:txBody>
      </p:sp>
      <p:sp>
        <p:nvSpPr>
          <p:cNvPr id="4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B66A5B7F-804A-4F30-B6A0-3C5C2AB4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3550"/>
            <a:ext cx="29146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50" b="1">
                <a:solidFill>
                  <a:srgbClr val="003B87"/>
                </a:solidFill>
                <a:latin typeface="Calibri"/>
                <a:ea typeface="Calibri"/>
                <a:cs typeface="Calibri"/>
              </a:defRPr>
            </a:pPr>
            <a:r>
              <a:rPr sz="9450" b="1">
                <a:solidFill>
                  <a:srgbClr val="003B87"/>
                </a:solidFill>
                <a:latin typeface="Calibri"/>
                <a:ea typeface="Calibri"/>
                <a:cs typeface="Calibri"/>
              </a:rPr>
              <a:t>Compute Commons: Access Rights</a:t>
            </a:r>
          </a:p>
          <a:p xmlns:a="http://schemas.openxmlformats.org/drawingml/2006/main">
            <a:pPr algn="l">
              <a:buNone/>
              <a:defRPr sz="9450" b="1">
                <a:solidFill>
                  <a:srgbClr val="003B87"/>
                </a:solidFill>
                <a:latin typeface="Calibri"/>
                <a:ea typeface="Calibri"/>
                <a:cs typeface="Calibri"/>
              </a:defRPr>
            </a:pPr>
            <a:r>
              <a:rPr sz="9450" b="1">
                <a:solidFill>
                  <a:srgbClr val="003B87"/>
                </a:solidFill>
                <a:latin typeface="Calibri"/>
                <a:ea typeface="Calibri"/>
                <a:cs typeface="Calibri"/>
              </a:rPr>
              <a:t>in Embodied-AI Inference Auctions</a:t>
            </a:r>
          </a:p>
        </p:txBody>
      </p:sp>
      <p:sp>
        <p:nvSpPr>
          <p:cNvPr id="5" name="authors">
            <a:extLst xmlns:a="http://schemas.openxmlformats.org/drawingml/2006/main">
              <a:ext uri="{FF2B5EF4-FFF2-40B4-BE49-F238E27FC236}">
                <a16:creationId xmlns:a16="http://schemas.microsoft.com/office/drawing/2014/main" id="{439A7EDB-36D0-4D9A-9F53-6704B96A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2857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Xinrong Sun     FP9 · Compute Commons     Duke Kunshan University</a:t>
            </a:r>
          </a:p>
        </p:txBody>
      </p:sp>
      <p:sp>
        <p:nvSpPr>
          <p:cNvPr id="6" name="course-instructor">
            <a:extLst xmlns:a="http://schemas.openxmlformats.org/drawingml/2006/main">
              <a:ext uri="{FF2B5EF4-FFF2-40B4-BE49-F238E27FC236}">
                <a16:creationId xmlns:a16="http://schemas.microsoft.com/office/drawing/2014/main" id="{E0620329-B4C6-41DE-A2DD-7C1BAB05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29225"/>
            <a:ext cx="2857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Course instructor: Professor Luyao Zhang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0d9042a344185"/>
          <a:stretch xmlns:a="http://schemas.openxmlformats.org/drawingml/2006/main"/>
        </p:blipFill>
        <p:spPr>
          <a:xfrm xmlns:a="http://schemas.openxmlformats.org/drawingml/2006/main">
            <a:off x="32575500" y="2190750"/>
            <a:ext cx="8096250" cy="2595818"/>
          </a:xfrm>
          <a:prstGeom xmlns:a="http://schemas.openxmlformats.org/drawingml/2006/main" prst="rect">
            <a:avLst/>
          </a:prstGeom>
        </p:spPr>
      </p:pic>
      <p:sp>
        <p:nvSpPr>
          <p:cNvPr id="8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E5C59819-8AE8-4F07-93AA-7B6F5A9A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42804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701690AD-D64E-4607-AE56-414773E6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2390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MESSAGE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83EFFE95-83CD-498B-99EF-83DF06C3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00875"/>
            <a:ext cx="3499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Access credits can preserve truthful value bidding,</a:t>
            </a:r>
          </a:p>
          <a:p xmlns:a="http://schemas.openxmlformats.org/drawingml/2006/main">
            <a:pPr algn="l">
              <a:buNone/>
              <a:defRPr sz="4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but truthful values do not guarantee truthful eligibility.</a:t>
            </a:r>
          </a:p>
        </p:txBody>
      </p:sp>
      <p:sp>
        <p:nvSpPr>
          <p:cNvPr id="11" name="question-model-title">
            <a:extLst xmlns:a="http://schemas.openxmlformats.org/drawingml/2006/main">
              <a:ext uri="{FF2B5EF4-FFF2-40B4-BE49-F238E27FC236}">
                <a16:creationId xmlns:a16="http://schemas.microsoft.com/office/drawing/2014/main" id="{CD5C4DFB-E23C-429C-B167-B9CF488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525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01   Question &amp; model</a:t>
            </a:r>
          </a:p>
        </p:txBody>
      </p:sp>
      <p:sp>
        <p:nvSpPr>
          <p:cNvPr id="12" name="question-model-title-rule">
            <a:extLst xmlns:a="http://schemas.openxmlformats.org/drawingml/2006/main">
              <a:ext uri="{FF2B5EF4-FFF2-40B4-BE49-F238E27FC236}">
                <a16:creationId xmlns:a16="http://schemas.microsoft.com/office/drawing/2014/main" id="{F81F4A35-5377-44CB-941D-4B8D9F26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506075"/>
            <a:ext cx="1104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search-question-heading">
            <a:extLst xmlns:a="http://schemas.openxmlformats.org/drawingml/2006/main">
              <a:ext uri="{FF2B5EF4-FFF2-40B4-BE49-F238E27FC236}">
                <a16:creationId xmlns:a16="http://schemas.microsoft.com/office/drawing/2014/main" id="{4190E777-F9CF-4131-93FB-BBFC74FF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14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Research question &amp; verified gap</a:t>
            </a:r>
          </a:p>
        </p:txBody>
      </p:sp>
      <p:sp>
        <p:nvSpPr>
          <p:cNvPr id="14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76FF89C4-3045-4C47-A236-4952EAA0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906250"/>
            <a:ext cx="11049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Can protected access change who receives inference slots while preserving truthful value reports?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Vickrey establishes the incentive benchmark [1]. Themis already auctions GPU resources [2]. We test an institutional boundary, not a new auction theorem.</a:t>
            </a:r>
          </a:p>
        </p:txBody>
      </p:sp>
      <p:sp>
        <p:nvSpPr>
          <p:cNvPr id="15" name="model-heading">
            <a:extLst xmlns:a="http://schemas.openxmlformats.org/drawingml/2006/main">
              <a:ext uri="{FF2B5EF4-FFF2-40B4-BE49-F238E27FC236}">
                <a16:creationId xmlns:a16="http://schemas.microsoft.com/office/drawing/2014/main" id="{19910E6B-D44C-401D-8E76-04691CDB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144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Strategic model &amp; foundations</a:t>
            </a:r>
          </a:p>
        </p:txBody>
      </p:sp>
      <p:sp>
        <p:nvSpPr>
          <p:cNvPr id="16" name="model">
            <a:extLst xmlns:a="http://schemas.openxmlformats.org/drawingml/2006/main">
              <a:ext uri="{FF2B5EF4-FFF2-40B4-BE49-F238E27FC236}">
                <a16:creationId xmlns:a16="http://schemas.microsoft.com/office/drawing/2014/main" id="{BD93B7B7-C6A1-4C6C-8B07-9664A884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906750"/>
            <a:ext cx="11049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Three firms want at most one window each. Private values: A = 10, B = 9, E = 6.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Two identical windows. E has verified entrant status. Utility = value − payment if selected.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Static, incomplete information. Truthful bids are weakly dominant and form a BNE.</a:t>
            </a:r>
          </a:p>
        </p:txBody>
      </p:sp>
      <p:sp>
        <p:nvSpPr>
          <p:cNvPr id="17" name="lenses-heading">
            <a:extLst xmlns:a="http://schemas.openxmlformats.org/drawingml/2006/main">
              <a:ext uri="{FF2B5EF4-FFF2-40B4-BE49-F238E27FC236}">
                <a16:creationId xmlns:a16="http://schemas.microsoft.com/office/drawing/2014/main" id="{DAFBC93E-B2F0-417F-9381-A98FDF5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Three complementary lenses</a:t>
            </a:r>
          </a:p>
        </p:txBody>
      </p:sp>
      <p:sp>
        <p:nvSpPr>
          <p:cNvPr id="18" name="lenses">
            <a:extLst xmlns:a="http://schemas.openxmlformats.org/drawingml/2006/main">
              <a:ext uri="{FF2B5EF4-FFF2-40B4-BE49-F238E27FC236}">
                <a16:creationId xmlns:a16="http://schemas.microsoft.com/office/drawing/2014/main" id="{E2BAF178-74E4-4DFF-A2BB-763467E7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0"/>
            <a:ext cx="11049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Game theory: test unilateral bid deviations.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Social choice: report firm value, entrant access and worker authority separately.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Mechanism design: set a credit and reservation before bids, then use critical payments.</a:t>
            </a:r>
          </a:p>
        </p:txBody>
      </p:sp>
      <p:sp>
        <p:nvSpPr>
          <p:cNvPr id="19" name="auction-heading">
            <a:extLst xmlns:a="http://schemas.openxmlformats.org/drawingml/2006/main">
              <a:ext uri="{FF2B5EF4-FFF2-40B4-BE49-F238E27FC236}">
                <a16:creationId xmlns:a16="http://schemas.microsoft.com/office/drawing/2014/main" id="{0A85FF4E-C110-48A1-8567-A06DAC93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33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Auction or allocation comparison</a:t>
            </a:r>
          </a:p>
        </p:txBody>
      </p:sp>
      <p:sp>
        <p:nvSpPr>
          <p:cNvPr id="20" name="auction">
            <a:extLst xmlns:a="http://schemas.openxmlformats.org/drawingml/2006/main">
              <a:ext uri="{FF2B5EF4-FFF2-40B4-BE49-F238E27FC236}">
                <a16:creationId xmlns:a16="http://schemas.microsoft.com/office/drawing/2014/main" id="{182900A4-D41C-4FC8-8D3B-A44A875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98250"/>
            <a:ext cx="11049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15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Score = bid + credit for verified E.</a:t>
            </a:r>
          </a:p>
          <a:p xmlns:a="http://schemas.openxmlformats.org/drawingml/2006/main">
            <a:pPr algn="l">
              <a:buNone/>
              <a:defRPr sz="315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15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Allocate the top remaining scores. Winners pay the highest losing score minus their credit, floored at zero. Fixed ties: A, B, E.</a:t>
            </a:r>
          </a:p>
          <a:p xmlns:a="http://schemas.openxmlformats.org/drawingml/2006/main">
            <a:pPr algn="l">
              <a:buNone/>
              <a:defRPr sz="315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15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One sealed round ends after payment. This is admission, not real-time robot control.</a:t>
            </a:r>
          </a:p>
        </p:txBody>
      </p:sp>
      <p:sp>
        <p:nvSpPr>
          <p:cNvPr id="21" name="design-evidence-title">
            <a:extLst xmlns:a="http://schemas.openxmlformats.org/drawingml/2006/main">
              <a:ext uri="{FF2B5EF4-FFF2-40B4-BE49-F238E27FC236}">
                <a16:creationId xmlns:a16="http://schemas.microsoft.com/office/drawing/2014/main" id="{5BD8C5A5-8D38-4D0E-9168-5677F645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9525000"/>
            <a:ext cx="1613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02   Design &amp; evidence</a:t>
            </a:r>
          </a:p>
        </p:txBody>
      </p:sp>
      <p:sp>
        <p:nvSpPr>
          <p:cNvPr id="22" name="design-evidence-title-rule">
            <a:extLst xmlns:a="http://schemas.openxmlformats.org/drawingml/2006/main">
              <a:ext uri="{FF2B5EF4-FFF2-40B4-BE49-F238E27FC236}">
                <a16:creationId xmlns:a16="http://schemas.microsoft.com/office/drawing/2014/main" id="{3074EA74-1821-4014-8E91-ECC3F7A8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0506075"/>
            <a:ext cx="1613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search-design-area">
            <a:extLst xmlns:a="http://schemas.openxmlformats.org/drawingml/2006/main">
              <a:ext uri="{FF2B5EF4-FFF2-40B4-BE49-F238E27FC236}">
                <a16:creationId xmlns:a16="http://schemas.microsoft.com/office/drawing/2014/main" id="{6BFB0873-E93B-425C-B20A-BE7D9281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1144250"/>
            <a:ext cx="161340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24" name="research-design-label">
            <a:extLst xmlns:a="http://schemas.openxmlformats.org/drawingml/2006/main">
              <a:ext uri="{FF2B5EF4-FFF2-40B4-BE49-F238E27FC236}">
                <a16:creationId xmlns:a16="http://schemas.microsoft.com/office/drawing/2014/main" id="{8126654C-9B1A-4166-BD33-50CD41EA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11382375"/>
            <a:ext cx="1489576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3B87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03B87"/>
                </a:solidFill>
                <a:latin typeface="Calibri"/>
                <a:ea typeface="Calibri"/>
                <a:cs typeface="Calibri"/>
              </a:rPr>
              <a:t>Four rules isolate two public choices</a:t>
            </a:r>
          </a:p>
        </p:txBody>
      </p:sp>
      <p:sp>
        <p:nvSpPr>
          <p:cNvPr id="25" name="research-design-prompt">
            <a:extLst xmlns:a="http://schemas.openxmlformats.org/drawingml/2006/main">
              <a:ext uri="{FF2B5EF4-FFF2-40B4-BE49-F238E27FC236}">
                <a16:creationId xmlns:a16="http://schemas.microsoft.com/office/drawing/2014/main" id="{FB9F3C40-7F71-42C4-93FE-A2A20CF3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14013180"/>
            <a:ext cx="14324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9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6" name="design-caption">
            <a:extLst xmlns:a="http://schemas.openxmlformats.org/drawingml/2006/main">
              <a:ext uri="{FF2B5EF4-FFF2-40B4-BE49-F238E27FC236}">
                <a16:creationId xmlns:a16="http://schemas.microsoft.com/office/drawing/2014/main" id="{70CF347C-1901-4936-A975-9657C353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097250"/>
            <a:ext cx="16134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Figure 1. Same private values and total capacity in every treatment. Worker reservations remove windows from the commercial auction.</a:t>
            </a:r>
          </a:p>
        </p:txBody>
      </p:sp>
      <p:sp>
        <p:nvSpPr>
          <p:cNvPr id="27" name="main-result-area">
            <a:extLst xmlns:a="http://schemas.openxmlformats.org/drawingml/2006/main">
              <a:ext uri="{FF2B5EF4-FFF2-40B4-BE49-F238E27FC236}">
                <a16:creationId xmlns:a16="http://schemas.microsoft.com/office/drawing/2014/main" id="{AF352E9D-B9F1-4E49-9DC0-059C3E7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7621250"/>
            <a:ext cx="161340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28" name="main-result-label">
            <a:extLst xmlns:a="http://schemas.openxmlformats.org/drawingml/2006/main">
              <a:ext uri="{FF2B5EF4-FFF2-40B4-BE49-F238E27FC236}">
                <a16:creationId xmlns:a16="http://schemas.microsoft.com/office/drawing/2014/main" id="{A95FDDB5-DC34-4CBB-B5F4-3B143142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17859375"/>
            <a:ext cx="1489576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3B87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03B87"/>
                </a:solidFill>
                <a:latin typeface="Calibri"/>
                <a:ea typeface="Calibri"/>
                <a:cs typeface="Calibri"/>
              </a:rPr>
              <a:t>Actual synthetic comparison</a:t>
            </a:r>
          </a:p>
        </p:txBody>
      </p:sp>
      <p:sp>
        <p:nvSpPr>
          <p:cNvPr id="29" name="main-result-prompt">
            <a:extLst xmlns:a="http://schemas.openxmlformats.org/drawingml/2006/main">
              <a:ext uri="{FF2B5EF4-FFF2-40B4-BE49-F238E27FC236}">
                <a16:creationId xmlns:a16="http://schemas.microsoft.com/office/drawing/2014/main" id="{20FD9DFC-1B88-4B17-A251-EA9C62AC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21105495"/>
            <a:ext cx="143242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9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0" name="result-caption">
            <a:extLst xmlns:a="http://schemas.openxmlformats.org/drawingml/2006/main">
              <a:ext uri="{FF2B5EF4-FFF2-40B4-BE49-F238E27FC236}">
                <a16:creationId xmlns:a16="http://schemas.microsoft.com/office/drawing/2014/main" id="{C7A388AE-9A9C-4C69-A215-69F12E63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4241125"/>
            <a:ext cx="16134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07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Credit alone changes winners from A, B to A, E. Firm value falls by 3 while revenue rises by 2.</a:t>
            </a:r>
          </a:p>
          <a:p xmlns:a="http://schemas.openxmlformats.org/drawingml/2006/main">
            <a:pPr algn="l">
              <a:buNone/>
              <a:defRPr sz="307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07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The combined rule reserves one worker window and admits E. These outputs do not measure human welfare.</a:t>
            </a:r>
          </a:p>
          <a:p xmlns:a="http://schemas.openxmlformats.org/drawingml/2006/main">
            <a:pPr algn="l">
              <a:buNone/>
              <a:defRPr sz="307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07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144,439 Python checks pass. Run code/model.py.</a:t>
            </a:r>
          </a:p>
        </p:txBody>
      </p:sp>
      <p:sp>
        <p:nvSpPr>
          <p:cNvPr id="31" name="impact-title">
            <a:extLst xmlns:a="http://schemas.openxmlformats.org/drawingml/2006/main">
              <a:ext uri="{FF2B5EF4-FFF2-40B4-BE49-F238E27FC236}">
                <a16:creationId xmlns:a16="http://schemas.microsoft.com/office/drawing/2014/main" id="{7974BDE9-47C8-4976-9EB0-1D99D2AD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9525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03   Impact &amp; dialogue</a:t>
            </a:r>
          </a:p>
        </p:txBody>
      </p:sp>
      <p:sp>
        <p:nvSpPr>
          <p:cNvPr id="32" name="impact-title-rule">
            <a:extLst xmlns:a="http://schemas.openxmlformats.org/drawingml/2006/main">
              <a:ext uri="{FF2B5EF4-FFF2-40B4-BE49-F238E27FC236}">
                <a16:creationId xmlns:a16="http://schemas.microsoft.com/office/drawing/2014/main" id="{92EF0681-32CB-4E92-B477-91FDD7DB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0506075"/>
            <a:ext cx="1104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al-world-heading">
            <a:extLst xmlns:a="http://schemas.openxmlformats.org/drawingml/2006/main">
              <a:ext uri="{FF2B5EF4-FFF2-40B4-BE49-F238E27FC236}">
                <a16:creationId xmlns:a16="http://schemas.microsoft.com/office/drawing/2014/main" id="{8D7A544D-17E0-43AC-A769-0DC992E2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114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B87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B87"/>
                </a:solidFill>
                <a:latin typeface="Calibri"/>
                <a:ea typeface="Calibri"/>
                <a:cs typeface="Calibri"/>
              </a:rPr>
              <a:t>Proposed case: an OpenVLA testbed</a:t>
            </a:r>
          </a:p>
        </p:txBody>
      </p:sp>
      <p:sp>
        <p:nvSpPr>
          <p:cNvPr id="34" name="real-world">
            <a:extLst xmlns:a="http://schemas.openxmlformats.org/drawingml/2006/main">
              <a:ext uri="{FF2B5EF4-FFF2-40B4-BE49-F238E27FC236}">
                <a16:creationId xmlns:a16="http://schemas.microsoft.com/office/drawing/2014/main" id="{2199F087-3016-48E4-80F0-4F875A7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1906250"/>
            <a:ext cx="110490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A shared tabletop-robot evaluation service [3] could admit smaller embodied-AI firms and protect worker-selected task tests.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First measure latency, compatibility and actual use of reserved windows. Publish decisions and allow eligibility appeals. No deployment or partnership is claimed.</a:t>
            </a:r>
          </a:p>
        </p:txBody>
      </p:sp>
      <p:sp>
        <p:nvSpPr>
          <p:cNvPr id="35" name="interdisciplinary-heading">
            <a:extLst xmlns:a="http://schemas.openxmlformats.org/drawingml/2006/main">
              <a:ext uri="{FF2B5EF4-FFF2-40B4-BE49-F238E27FC236}">
                <a16:creationId xmlns:a16="http://schemas.microsoft.com/office/drawing/2014/main" id="{1E996ED0-A32A-4617-8E65-E6ED026E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58115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Interdisciplinary evidence</a:t>
            </a:r>
          </a:p>
        </p:txBody>
      </p:sp>
      <p:sp>
        <p:nvSpPr>
          <p:cNvPr id="36" name="interdisciplinary">
            <a:extLst xmlns:a="http://schemas.openxmlformats.org/drawingml/2006/main">
              <a:ext uri="{FF2B5EF4-FFF2-40B4-BE49-F238E27FC236}">
                <a16:creationId xmlns:a16="http://schemas.microsoft.com/office/drawing/2014/main" id="{91D1D813-AECB-4965-9667-285D2DDC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6573500"/>
            <a:ext cx="11049000" cy="523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Behavioral artifact: predict a payment, submit a bid, inspect utility and record reflection. Report bid error and utility regret separately.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Sun’s classroom statement motivates confusion and winning-preference hypotheses. No observed bidding dataset is supplied.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Computational artifact: exact threshold rules, four treatments and a 39-setting sensitivity sweep.</a:t>
            </a:r>
          </a:p>
          <a:p xmlns:a="http://schemas.openxmlformats.org/drawingml/2006/main">
            <a:pPr>
              <a:defRPr sz="32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The false-label test changes the design: verify eligibility before bidding.</a:t>
            </a:r>
          </a:p>
        </p:txBody>
      </p:sp>
      <p:sp>
        <p:nvSpPr>
          <p:cNvPr id="37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68ADFBED-634F-4EFD-A437-EF921500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2193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Limitations &amp; next test</a:t>
            </a:r>
          </a:p>
        </p:txBody>
      </p:sp>
      <p:sp>
        <p:nvSpPr>
          <p:cNvPr id="38" name="limits">
            <a:extLst xmlns:a="http://schemas.openxmlformats.org/drawingml/2006/main">
              <a:ext uri="{FF2B5EF4-FFF2-40B4-BE49-F238E27FC236}">
                <a16:creationId xmlns:a16="http://schemas.microsoft.com/office/drawing/2014/main" id="{B297720D-E873-4F17-88AF-AF30E5F6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2955250"/>
            <a:ext cx="11049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With reserve 1 and credit 5, A gains 4 by falsely claiming entrant status. A value-truthful mechanism cannot fix this.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Next: verified eligibility, measured inference windows and a comprehension pilot. How should access claims be audited?</a:t>
            </a:r>
          </a:p>
        </p:txBody>
      </p:sp>
      <p:sp>
        <p:nvSpPr>
          <p:cNvPr id="39" name="dates">
            <a:extLst xmlns:a="http://schemas.openxmlformats.org/drawingml/2006/main">
              <a:ext uri="{FF2B5EF4-FFF2-40B4-BE49-F238E27FC236}">
                <a16:creationId xmlns:a16="http://schemas.microsoft.com/office/drawing/2014/main" id="{EA157D18-CC9B-4A0B-91A5-3BE26B8F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581275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734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7343"/>
                </a:solidFill>
                <a:latin typeface="Calibri"/>
                <a:ea typeface="Calibri"/>
                <a:cs typeface="Calibri"/>
              </a:rPr>
              <a:t>SEP 28  Poster discussion and peer challenge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00734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7343"/>
                </a:solidFill>
                <a:latin typeface="Calibri"/>
                <a:ea typeface="Calibri"/>
                <a:cs typeface="Calibri"/>
              </a:rPr>
              <a:t>SEP 30  Revision after actual feedback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4CE48EC-E121-4C2A-81BE-8C70F6F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527250"/>
            <a:ext cx="4013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ack-heading">
            <a:extLst xmlns:a="http://schemas.openxmlformats.org/drawingml/2006/main">
              <a:ext uri="{FF2B5EF4-FFF2-40B4-BE49-F238E27FC236}">
                <a16:creationId xmlns:a16="http://schemas.microsoft.com/office/drawing/2014/main" id="{CC1B0A45-EEBC-4636-8C8B-F8804355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Acknowledgments</a:t>
            </a:r>
          </a:p>
        </p:txBody>
      </p:sp>
      <p:sp>
        <p:nvSpPr>
          <p:cNvPr id="42" name="ack">
            <a:extLst xmlns:a="http://schemas.openxmlformats.org/drawingml/2006/main">
              <a:ext uri="{FF2B5EF4-FFF2-40B4-BE49-F238E27FC236}">
                <a16:creationId xmlns:a16="http://schemas.microsoft.com/office/drawing/2014/main" id="{1C589FA2-42B8-4C7A-9C87-A446B786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479750"/>
            <a:ext cx="1104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Professor Luyao Zhang: course framing and templates. Sun’s PS1 and classroom account: research direction. Python and browser software: implementation. ChatGPT/Codex: disclosed assistance.</a:t>
            </a:r>
          </a:p>
        </p:txBody>
      </p:sp>
      <p:sp>
        <p:nvSpPr>
          <p:cNvPr id="43" name="references-heading">
            <a:extLst xmlns:a="http://schemas.openxmlformats.org/drawingml/2006/main">
              <a:ext uri="{FF2B5EF4-FFF2-40B4-BE49-F238E27FC236}">
                <a16:creationId xmlns:a16="http://schemas.microsoft.com/office/drawing/2014/main" id="{E7EA3AAE-744F-4F03-A737-D3056A09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7813000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Selected references</a:t>
            </a:r>
          </a:p>
        </p:txBody>
      </p:sp>
      <p:sp>
        <p:nvSpPr>
          <p:cNvPr id="44" name="references">
            <a:extLst xmlns:a="http://schemas.openxmlformats.org/drawingml/2006/main">
              <a:ext uri="{FF2B5EF4-FFF2-40B4-BE49-F238E27FC236}">
                <a16:creationId xmlns:a16="http://schemas.microsoft.com/office/drawing/2014/main" id="{0ECEF328-5F03-4179-A929-2458DB1F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384500"/>
            <a:ext cx="16134016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[1] Vickrey (1961). Counterspeculation, Auctions, and Competitive Sealed Tenders. J. Finance 16(1), 8–37. doi:10.1111/j.1540-6261.1961.tb02789.x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[2] Mahajan et al. (2020). Themis: Fair and Efficient GPU Cluster Scheduling. NSDI, 289–304. usenix.org/conference/nsdi20/presentation/mahajan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[3] Kim et al. (2024). OpenVLA: An Open-Source Vision-Language-Action Model. arXiv:2406.09246</a:t>
            </a:r>
          </a:p>
        </p:txBody>
      </p:sp>
      <p:sp>
        <p:nvSpPr>
          <p:cNvPr id="45" name="access-heading">
            <a:extLst xmlns:a="http://schemas.openxmlformats.org/drawingml/2006/main">
              <a:ext uri="{FF2B5EF4-FFF2-40B4-BE49-F238E27FC236}">
                <a16:creationId xmlns:a16="http://schemas.microsoft.com/office/drawing/2014/main" id="{49F540C3-5DD7-4CE8-9BCD-20A72A4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78130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OPEN MATERIALS</a:t>
            </a:r>
          </a:p>
        </p:txBody>
      </p:sp>
      <p:sp>
        <p:nvSpPr>
          <p:cNvPr id="46" name="access-links">
            <a:extLst xmlns:a="http://schemas.openxmlformats.org/drawingml/2006/main">
              <a:ext uri="{FF2B5EF4-FFF2-40B4-BE49-F238E27FC236}">
                <a16:creationId xmlns:a16="http://schemas.microsoft.com/office/drawing/2014/main" id="{35C264DA-792D-48F7-AE3C-F21A5E9A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17" y="28384500"/>
            <a:ext cx="1104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GitHub: dku-comsci-econ206-Autumn2026 /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-PS2-FP9-ComputeCommons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HF: dku-comsci-econ206-2026 / Xinrong_Sun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Destinations established; PS2 upload pending.</a:t>
            </a:r>
          </a:p>
        </p:txBody>
      </p:sp>
      <p:sp>
        <p:nvSpPr>
          <p:cNvPr id="47" name="hf-qr-placeholder">
            <a:extLst xmlns:a="http://schemas.openxmlformats.org/drawingml/2006/main">
              <a:ext uri="{FF2B5EF4-FFF2-40B4-BE49-F238E27FC236}">
                <a16:creationId xmlns:a16="http://schemas.microsoft.com/office/drawing/2014/main" id="{296FE813-8DC2-4185-ADA6-A77390D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2125" y="284035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hf-qr-label">
            <a:extLst xmlns:a="http://schemas.openxmlformats.org/drawingml/2006/main">
              <a:ext uri="{FF2B5EF4-FFF2-40B4-BE49-F238E27FC236}">
                <a16:creationId xmlns:a16="http://schemas.microsoft.com/office/drawing/2014/main" id="{E242BD6C-81B6-4B83-927B-ABE99A7D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8800" y="28508325"/>
            <a:ext cx="742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9" name="github-qr-placeholder">
            <a:extLst xmlns:a="http://schemas.openxmlformats.org/drawingml/2006/main">
              <a:ext uri="{FF2B5EF4-FFF2-40B4-BE49-F238E27FC236}">
                <a16:creationId xmlns:a16="http://schemas.microsoft.com/office/drawing/2014/main" id="{63890B80-6191-47DE-888B-3D958CCA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8950" y="284035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github-qr-label">
            <a:extLst xmlns:a="http://schemas.openxmlformats.org/drawingml/2006/main">
              <a:ext uri="{FF2B5EF4-FFF2-40B4-BE49-F238E27FC236}">
                <a16:creationId xmlns:a16="http://schemas.microsoft.com/office/drawing/2014/main" id="{ADAD9B08-81E1-4FA5-99E7-6DC63E0C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8000" y="28508325"/>
            <a:ext cx="85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1" name="format-note">
            <a:extLst xmlns:a="http://schemas.openxmlformats.org/drawingml/2006/main">
              <a:ext uri="{FF2B5EF4-FFF2-40B4-BE49-F238E27FC236}">
                <a16:creationId xmlns:a16="http://schemas.microsoft.com/office/drawing/2014/main" id="{49DEC60E-E378-41A7-B1C9-EC4712C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813250"/>
            <a:ext cx="4013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A0 landscape · 1189 × 841 mm     Synthetic evidence. Public deployment, author verification and symposium response remain to be completed.</a:t>
            </a:r>
          </a:p>
        </p:txBody>
      </p:sp>
      <p:graphicFrame>
        <p:nvGraphicFramePr>
          <p:cNvPr id="107" name=""/>
          <p:cNvGraphicFramePr/>
          <p:nvPr/>
        </p:nvGraphicFramePr>
        <p:xfrm>
          <a:off xmlns:a="http://schemas.openxmlformats.org/drawingml/2006/main" x="13954125" y="12382500"/>
          <a:ext xmlns:a="http://schemas.openxmlformats.org/drawingml/2006/main" cx="14859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00750"/>
                <a:gridCol w="4429125"/>
                <a:gridCol w="4429125"/>
              </a:tblGrid>
              <a:tr h="609600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Rule</a:t>
                      </a:r>
                    </a:p>
                  </a:txBody>
                  <a:tcPr marL="91440" marR="91440" marT="45720" marB="45720">
                    <a:solidFill>
                      <a:srgbClr val="003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Worker reserve</a:t>
                      </a:r>
                    </a:p>
                  </a:txBody>
                  <a:tcPr marL="91440" marR="91440" marT="45720" marB="45720">
                    <a:solidFill>
                      <a:srgbClr val="003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Entrant credit</a:t>
                      </a:r>
                    </a:p>
                  </a:txBody>
                  <a:tcPr marL="91440" marR="91440" marT="45720" marB="45720">
                    <a:solidFill>
                      <a:srgbClr val="003B8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Standard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Credit only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Reserve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Both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" name=""/>
          <p:cNvGraphicFramePr/>
          <p:nvPr/>
        </p:nvGraphicFramePr>
        <p:xfrm>
          <a:off xmlns:a="http://schemas.openxmlformats.org/drawingml/2006/main" x="13954125" y="18859500"/>
          <a:ext xmlns:a="http://schemas.openxmlformats.org/drawingml/2006/main" cx="14859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095500"/>
                <a:gridCol w="2857500"/>
                <a:gridCol w="2286000"/>
                <a:gridCol w="1809750"/>
                <a:gridCol w="1809750"/>
              </a:tblGrid>
              <a:tr h="838200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Rule</a:t>
                      </a:r>
                    </a:p>
                  </a:txBody>
                  <a:tcPr marL="91440" marR="91440" marT="45720" marB="45720">
                    <a:solidFill>
                      <a:srgbClr val="003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Wins</a:t>
                      </a:r>
                    </a:p>
                  </a:txBody>
                  <a:tcPr marL="91440" marR="91440" marT="45720" marB="45720">
                    <a:solidFill>
                      <a:srgbClr val="003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Pays</a:t>
                      </a:r>
                    </a:p>
                  </a:txBody>
                  <a:tcPr marL="91440" marR="91440" marT="45720" marB="45720">
                    <a:solidFill>
                      <a:srgbClr val="003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Utility</a:t>
                      </a:r>
                    </a:p>
                  </a:txBody>
                  <a:tcPr marL="91440" marR="91440" marT="45720" marB="45720">
                    <a:solidFill>
                      <a:srgbClr val="003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003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Rev.</a:t>
                      </a:r>
                    </a:p>
                  </a:txBody>
                  <a:tcPr marL="91440" marR="91440" marT="45720" marB="45720">
                    <a:solidFill>
                      <a:srgbClr val="003B87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Standard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A,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6 / 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4 /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Credit only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A, E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9 / 5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1 / 1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Reserve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Both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98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2026-09-27T13:16:12.7400000Z</dcterms:created>
  <dcterms:modified xsi:type="dcterms:W3CDTF">2026-09-27T13:16:12.7410000Z</dcterms:modified>
</coreProperties>
</file>